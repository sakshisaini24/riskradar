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8FAFC"/>
                </a:solidFill>
                <a:latin typeface="Arial"/>
              </a:defRPr>
            </a:pPr>
            <a:r>
              <a:t>When escalation is obvious, it's already too 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Arial"/>
              </a:defRPr>
            </a:pPr>
            <a:r>
              <a:t>Insurance claims  ·  legal risk  ·  early intervention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B923C"/>
                </a:solidFill>
                <a:latin typeface="Arial"/>
              </a:defRPr>
            </a:pPr>
            <a:r>
              <a:t>THE PAIN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320040" cy="3200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47672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8FAFC"/>
                </a:solidFill>
                <a:latin typeface="Arial"/>
              </a:defRPr>
            </a:pPr>
            <a:r>
              <a:t>Specialists guess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5856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Arial"/>
              </a:defRPr>
            </a:pPr>
            <a:r>
              <a:t>Gut feel + manual review of voluminous notes and structured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00400"/>
            <a:ext cx="320040" cy="3200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182112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8FAFC"/>
                </a:solidFill>
                <a:latin typeface="Arial"/>
              </a:defRPr>
            </a:pPr>
            <a:r>
              <a:t>Reactive, not predictive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49300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Arial"/>
              </a:defRPr>
            </a:pPr>
            <a:r>
              <a:t>Red flags appear after the low-cost resolution window closes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34840"/>
            <a:ext cx="320040" cy="32004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416552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8FAFC"/>
                </a:solidFill>
                <a:latin typeface="Arial"/>
              </a:defRPr>
            </a:pPr>
            <a:r>
              <a:t>Two costs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2744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Arial"/>
              </a:defRPr>
            </a:pPr>
            <a:r>
              <a:t>Legal fees can exceed claim value · ~45 min/case on manual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92040"/>
            <a:ext cx="5303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8FAFC"/>
                </a:solidFill>
                <a:latin typeface="Arial"/>
              </a:defRPr>
            </a:pPr>
            <a:r>
              <a:t>We need intelligence that reads between the lines—before cases hit a point of no return.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0020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B923C"/>
                </a:solidFill>
                <a:latin typeface="Arial"/>
              </a:defRPr>
            </a:pPr>
            <a:r>
              <a:t>THE STAKES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1920240"/>
            <a:ext cx="493776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9339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Arial"/>
              </a:defRPr>
            </a:pPr>
            <a:r>
              <a:t>CLAIM 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249424"/>
            <a:ext cx="4572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Arial"/>
              </a:defRPr>
            </a:pPr>
            <a:r>
              <a:t>Notes · emails · calls · forms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633472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Arial"/>
              </a:defRPr>
            </a:pPr>
            <a: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2880360"/>
            <a:ext cx="493776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295351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94A3B8"/>
                </a:solidFill>
                <a:latin typeface="Arial"/>
              </a:defRPr>
            </a:pPr>
            <a:r>
              <a:t>TODAY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209544"/>
            <a:ext cx="4572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Arial"/>
              </a:defRPr>
            </a:pPr>
            <a:r>
              <a:t>Manual review · slow · subjective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593592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Arial"/>
              </a:defRPr>
            </a:pPr>
            <a:r>
              <a:t>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3840480"/>
            <a:ext cx="493776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391363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B923C"/>
                </a:solidFill>
                <a:latin typeface="Arial"/>
              </a:defRPr>
            </a:pPr>
            <a:r>
              <a:t>ESCALATION OBVIOUS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4169664"/>
            <a:ext cx="4572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Arial"/>
              </a:defRPr>
            </a:pPr>
            <a:r>
              <a:t>Window for cheap fix — closed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553712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Arial"/>
              </a:defRPr>
            </a:pPr>
            <a:r>
              <a:t>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4800600"/>
            <a:ext cx="4937760" cy="6583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0" y="48737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Arial"/>
              </a:defRPr>
            </a:pPr>
            <a:r>
              <a:t>TOO 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5129784"/>
            <a:ext cx="4572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Arial"/>
              </a:defRPr>
            </a:pPr>
            <a:r>
              <a:t>Legal fees ↑  ·  leverage 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5623560"/>
            <a:ext cx="150876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5669280"/>
            <a:ext cx="1508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FB923C"/>
                </a:solidFill>
                <a:latin typeface="Arial"/>
              </a:defRPr>
            </a:pPr>
            <a:r>
              <a:t>$$$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6053328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Arial"/>
              </a:defRPr>
            </a:pPr>
            <a:r>
              <a:t>Legal spend can</a:t>
            </a:r>
            <a:br/>
            <a:r>
              <a:t>exceed claim value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5623560"/>
            <a:ext cx="150876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5669280"/>
            <a:ext cx="1508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FB923C"/>
                </a:solidFill>
                <a:latin typeface="Arial"/>
              </a:defRPr>
            </a:pPr>
            <a:r>
              <a:t>45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Arial"/>
              </a:defRPr>
            </a:pPr>
            <a:r>
              <a:t>Per case</a:t>
            </a:r>
            <a:br/>
            <a:r>
              <a:t>manual research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66960" y="5623560"/>
            <a:ext cx="150876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66960" y="5669280"/>
            <a:ext cx="1508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FB923C"/>
                </a:solidFill>
                <a:latin typeface="Arial"/>
              </a:defRPr>
            </a:pPr>
            <a:r>
              <a:t>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6053328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Arial"/>
              </a:defRPr>
            </a:pPr>
            <a:r>
              <a:t>Risk hidden in</a:t>
            </a:r>
            <a:br/>
            <a:r>
              <a:t>unstructured notes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Arial"/>
              </a:defRPr>
            </a:pPr>
            <a:r>
              <a:t>RiskRadar — predict escalation early · explain why · act before legal costs run away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